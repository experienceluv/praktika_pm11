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v Experience" userId="b175b0e80cf51f29" providerId="LiveId" clId="{453ADB69-DB5A-45EB-BA99-186620247F08}"/>
    <pc:docChg chg="modSld">
      <pc:chgData name="Luv Experience" userId="b175b0e80cf51f29" providerId="LiveId" clId="{453ADB69-DB5A-45EB-BA99-186620247F08}" dt="2026-04-20T09:38:07.921" v="60" actId="20577"/>
      <pc:docMkLst>
        <pc:docMk/>
      </pc:docMkLst>
      <pc:sldChg chg="modSp mod">
        <pc:chgData name="Luv Experience" userId="b175b0e80cf51f29" providerId="LiveId" clId="{453ADB69-DB5A-45EB-BA99-186620247F08}" dt="2026-04-20T09:38:07.921" v="60" actId="20577"/>
        <pc:sldMkLst>
          <pc:docMk/>
          <pc:sldMk cId="0" sldId="256"/>
        </pc:sldMkLst>
        <pc:spChg chg="mod">
          <ac:chgData name="Luv Experience" userId="b175b0e80cf51f29" providerId="LiveId" clId="{453ADB69-DB5A-45EB-BA99-186620247F08}" dt="2026-04-20T09:38:07.921" v="60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726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Session 2 assignment: uploaded PDF.
- Session 3 assignment: uploaded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Session 2 PDF: requirements for office and security terminals.
- Session 3 PDF: requirements for department terminal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Report structure and database design derived from implemented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Session 3 PDF requires reports in general office terminal and automated safety reports every 3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48872" cy="6400800"/>
          </a:xfrm>
          <a:prstGeom prst="rect">
            <a:avLst/>
          </a:prstGeom>
          <a:solidFill>
            <a:srgbClr val="FFF8FB"/>
          </a:solidFill>
          <a:ln w="12700">
            <a:solidFill>
              <a:srgbClr val="FFF8F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594360" y="777240"/>
            <a:ext cx="10972800" cy="530352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E4A56"/>
                </a:solidFill>
              </a:rPr>
              <a:t>Презентация по практике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7CA2"/>
                </a:solidFill>
              </a:rPr>
              <a:t>Информационная система контроля физического доступа «ХранительПРО»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4A56"/>
                </a:solidFill>
              </a:rPr>
              <a:t>Содержание презентации основано на выполненном отчёте, базе данных и разработанных настольных приложениях.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4A56"/>
                </a:solidFill>
              </a:rPr>
              <a:t>Студент: </a:t>
            </a:r>
            <a:r>
              <a:rPr lang="ru-RU" sz="1500" dirty="0">
                <a:solidFill>
                  <a:srgbClr val="5E4A56"/>
                </a:solidFill>
              </a:rPr>
              <a:t>Баранцев Евгений Дмитриевич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E4A56"/>
                </a:solidFill>
              </a:rPr>
              <a:t>Группа: </a:t>
            </a:r>
            <a:r>
              <a:rPr lang="ru-RU" sz="1500" dirty="0">
                <a:solidFill>
                  <a:srgbClr val="5E4A56"/>
                </a:solidFill>
              </a:rPr>
              <a:t>23П-2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E4A56"/>
                </a:solidFill>
              </a:rPr>
              <a:t>Руководитель: </a:t>
            </a:r>
            <a:r>
              <a:rPr lang="ru-RU" sz="1500" dirty="0">
                <a:solidFill>
                  <a:srgbClr val="5E4A56"/>
                </a:solidFill>
              </a:rPr>
              <a:t>Калинин Арсений Олегович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0" y="1645920"/>
            <a:ext cx="2240280" cy="3108960"/>
          </a:xfrm>
          <a:prstGeom prst="roundRect">
            <a:avLst>
              <a:gd name="adj" fmla="val 1633"/>
            </a:avLst>
          </a:prstGeom>
          <a:solidFill>
            <a:srgbClr val="FCFCFD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366760" y="3063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481"/>
                </a:solidFill>
              </a:rPr>
              <a:t>Титульный скрин / логотип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8C7481"/>
                </a:solidFill>
              </a:rPr>
              <a:t>системы</a:t>
            </a:r>
            <a:endParaRPr lang="en-US" sz="12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AF07B3D-C690-7E56-0CCE-711C8F1F5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180" y="2284445"/>
            <a:ext cx="2103120" cy="18319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48872" cy="6400800"/>
          </a:xfrm>
          <a:prstGeom prst="rect">
            <a:avLst/>
          </a:prstGeom>
          <a:solidFill>
            <a:srgbClr val="FFF8FB"/>
          </a:solidFill>
          <a:ln w="12700">
            <a:solidFill>
              <a:srgbClr val="FFF8F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Цель и результаты практики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4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Кратко: что было разработано и получено в результате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4068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13232" y="1207008"/>
            <a:ext cx="5111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Основная цель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481328"/>
            <a:ext cx="4937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Проанализировать предметную область системы контроля физического доступа.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Спроектировать и нормализовать базу данных до 3 нормальной формы.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Реализовать роли и уровни доступа для разных категорий пользователей.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Разработать настольные приложения: клиент посетителя, терминал общего отдела, терминал охраны и терминал подразделения.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Создать представления, функции, триггеры и отчёты по требованиям задания.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544068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382512" y="1207008"/>
            <a:ext cx="5111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Полученные результаты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19088" y="1481328"/>
            <a:ext cx="4937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Построены UML2, диаграмма деятельности, диаграмма вариантов использования и ERD.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Создан словарь данных и схема БД.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Реализованы отчёты: посещения по подразделениям, лица на территории, автоматические отчёты ТБ.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Настольные приложения связаны с единой БД PostgreSQL и используют общую модель данных.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48872" cy="6400800"/>
          </a:xfrm>
          <a:prstGeom prst="rect">
            <a:avLst/>
          </a:prstGeom>
          <a:solidFill>
            <a:srgbClr val="FFF8FB"/>
          </a:solidFill>
          <a:ln w="12700">
            <a:solidFill>
              <a:srgbClr val="FFF8F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9557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Анализ и предварительная обработка информации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4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UML2 и ERD отражают основные бизнес-процессы системы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66928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13232" y="1207008"/>
            <a:ext cx="5340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Что было выполнено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536192"/>
            <a:ext cx="52120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Выделены основные участники: посетитель, сотрудник общего отдела, сотрудник охраны, сотрудник подразделения, система.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Определены сценарии: регистрация, оформление индивидуальной и групповой заявки, согласование, допуск на территорию, контроль присутствия и ведение чёрного списка.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Построена UML-диаграмма вариантов использования и ERD-схема базы данных.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4069080"/>
            <a:ext cx="2377440" cy="1645920"/>
          </a:xfrm>
          <a:prstGeom prst="roundRect">
            <a:avLst>
              <a:gd name="adj" fmla="val 2222"/>
            </a:avLst>
          </a:prstGeom>
          <a:solidFill>
            <a:srgbClr val="FCFCFD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00584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481"/>
                </a:solidFill>
              </a:rPr>
              <a:t>Скрин UML2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4069080"/>
            <a:ext cx="2377440" cy="1645920"/>
          </a:xfrm>
          <a:prstGeom prst="roundRect">
            <a:avLst>
              <a:gd name="adj" fmla="val 2222"/>
            </a:avLst>
          </a:prstGeom>
          <a:solidFill>
            <a:srgbClr val="FCFCFD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6446520" y="1097280"/>
            <a:ext cx="5212080" cy="530352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611112" y="1207008"/>
            <a:ext cx="4882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Главный вывод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20840" y="1627632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4A56"/>
                </a:solidFill>
              </a:rPr>
              <a:t>Анализ предметной области позволил перейти от требований задания к конкретной структуре БД и составу программных модулей. Благодаря этому каждая роль получила только свои функции, а каждая сущность базы — чёткое назначение.</a:t>
            </a:r>
            <a:endParaRPr lang="en-US" sz="16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E58BB52-A2A0-A00D-3816-B6725D264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3913632"/>
            <a:ext cx="2532888" cy="202446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7301AF0-6D21-4A9D-EB22-A53BE1E7B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64" y="4242949"/>
            <a:ext cx="1910978" cy="12981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48872" cy="6400800"/>
          </a:xfrm>
          <a:prstGeom prst="rect">
            <a:avLst/>
          </a:prstGeom>
          <a:solidFill>
            <a:srgbClr val="FFF8FB"/>
          </a:solidFill>
          <a:ln w="12700">
            <a:solidFill>
              <a:srgbClr val="FFF8F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66928" y="216843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Выделение объектов и атрибутов (Data Dictionary)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4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Основные сущности и ключевые поля итоговой БД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11064240" cy="5413248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13232" y="1161288"/>
            <a:ext cx="10735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Ключевые таблицы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Таблица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417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Основные поля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0" y="1417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Назначение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1728216"/>
            <a:ext cx="10561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68680" y="17556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A56"/>
                </a:solidFill>
              </a:rPr>
              <a:t>users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75564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user_id, email, password_hash, login, role_id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89520" y="175564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Учётные записи пользователей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" y="2203704"/>
            <a:ext cx="10561320" cy="438912"/>
          </a:xfrm>
          <a:prstGeom prst="rect">
            <a:avLst/>
          </a:prstGeom>
          <a:solidFill>
            <a:srgbClr val="FFFCFD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68680" y="223113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A56"/>
                </a:solidFill>
              </a:rPr>
              <a:t>employees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231136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employee_id, department_id, fio, employee_code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589520" y="223113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Сотрудники и вход по коду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" y="2679192"/>
            <a:ext cx="10561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868680" y="27066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A56"/>
                </a:solidFill>
              </a:rPr>
              <a:t>visitors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270662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visitor_id, fio, passport, organization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89520" y="270662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Данные посетителей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9808" y="3154680"/>
            <a:ext cx="10561320" cy="438912"/>
          </a:xfrm>
          <a:prstGeom prst="rect">
            <a:avLst/>
          </a:prstGeom>
          <a:solidFill>
            <a:srgbClr val="FFFCFD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868680" y="31821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A56"/>
                </a:solidFill>
              </a:rPr>
              <a:t>applications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318211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application_id, user_id, type, status, dates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589520" y="3182112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Заявки на посещение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9808" y="3630168"/>
            <a:ext cx="10561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868680" y="3657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A56"/>
                </a:solidFill>
              </a:rPr>
              <a:t>application_visitors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365760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application_id, visitor_id, visitor_order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89520" y="365760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Связь заявок и посетителей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9808" y="4105656"/>
            <a:ext cx="10561320" cy="438912"/>
          </a:xfrm>
          <a:prstGeom prst="rect">
            <a:avLst/>
          </a:prstGeom>
          <a:solidFill>
            <a:srgbClr val="FFFCFD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868680" y="41330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A56"/>
                </a:solidFill>
              </a:rPr>
              <a:t>visit_logs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413308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entry_time, exit_time, dept_entry, dept_exit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89520" y="413308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Фактические посещения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9808" y="4581144"/>
            <a:ext cx="10561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868680" y="460857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A56"/>
                </a:solidFill>
              </a:rPr>
              <a:t>black_list_entries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0" y="4608576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visitor_id, reason, created_at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589520" y="460857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4A56"/>
                </a:solidFill>
              </a:rPr>
              <a:t>Чёрный список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960" y="532180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481"/>
                </a:solidFill>
              </a:rPr>
              <a:t>Словарь данных фиксирует типы данных, ключи, ограничения NOT NULL и внешние ключи. Это обеспечивает согласованность между логической моделью и реальной БД.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48872" cy="6400800"/>
          </a:xfrm>
          <a:prstGeom prst="rect">
            <a:avLst/>
          </a:prstGeom>
          <a:solidFill>
            <a:srgbClr val="FFF8FB"/>
          </a:solidFill>
          <a:ln w="12700">
            <a:solidFill>
              <a:srgbClr val="FFF8F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Проектирование и нормализация БД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4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Доказательство приведения базы данных к 3НФ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8640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13232" y="1207008"/>
            <a:ext cx="5157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Почему база находится в 3НФ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536192"/>
            <a:ext cx="498348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1НФ: все таблицы содержат атомарные значения, повторяющиеся группы вынесены в отдельные таблицы.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2НФ: атрибуты зависят от полного ключа; связи многие-ко-многим вынесены в таблицу application_visitors.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3НФ: неключевые атрибуты не зависят друг от друга; справочники типов и статусов вынесены отдельно.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Избыточные данные исключены: тип заявки, статус, роль, подразделение не дублируются текстом в каждой записи.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539496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428232" y="1207008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Примеры нормализации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10528" y="1572768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E4A56"/>
                </a:solidFill>
              </a:rPr>
              <a:t>• applications хранит только ссылки на user, type, department, employee и status.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5E4A56"/>
                </a:solidFill>
              </a:rPr>
              <a:t>• visitors хранит только данные посетителя, а не данные конкретной заявки.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5E4A56"/>
                </a:solidFill>
              </a:rPr>
              <a:t>• application_visitors отделяет состав участников от самой заявки.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5E4A56"/>
                </a:solidFill>
              </a:rPr>
              <a:t>• application_statuses и application_types реализованы как справочники.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583680" y="3977640"/>
            <a:ext cx="4663440" cy="1783080"/>
          </a:xfrm>
          <a:prstGeom prst="roundRect">
            <a:avLst>
              <a:gd name="adj" fmla="val 2051"/>
            </a:avLst>
          </a:prstGeom>
          <a:solidFill>
            <a:srgbClr val="FCFCFD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720840" y="47320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481"/>
                </a:solidFill>
              </a:rPr>
              <a:t>Скрин схемы БД / CASE-средства</a:t>
            </a:r>
            <a:endParaRPr lang="en-US" sz="12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3D454EC-E345-9B18-8A18-8A86313A6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351" y="3963924"/>
            <a:ext cx="3976098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48872" cy="6400800"/>
          </a:xfrm>
          <a:prstGeom prst="rect">
            <a:avLst/>
          </a:prstGeom>
          <a:solidFill>
            <a:srgbClr val="FFF8FB"/>
          </a:solidFill>
          <a:ln w="12700">
            <a:solidFill>
              <a:srgbClr val="FFF8F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Реализация уровней доступа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4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Функции разделены по ролям пользователей системы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651760" cy="5303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13232" y="1207008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Посетитель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572768"/>
            <a:ext cx="22402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Регистрация и авторизация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Индивидуальная заявка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Групповая заявка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Просмотр своих заявок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429000" y="1097280"/>
            <a:ext cx="2651760" cy="5303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593592" y="1207008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Общий отдел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30168" y="1572768"/>
            <a:ext cx="22402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Авторизация по коду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Проверка заявок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Одобрение / отклонение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Отчёты и контроль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651760" cy="5303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473952" y="1207008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Охрана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0528" y="1572768"/>
            <a:ext cx="22402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Только одобренные заявки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Поиск по ФИО/паспорту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Разрешение доступа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Фиксация входа и выхода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89720" y="1097280"/>
            <a:ext cx="2423160" cy="53035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354312" y="1207008"/>
            <a:ext cx="2093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Подразделение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45168" y="1572768"/>
            <a:ext cx="20574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5E4A56"/>
                </a:solidFill>
              </a:rPr>
              <a:t>Заявки своего подразделения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5E4A56"/>
                </a:solidFill>
              </a:rPr>
              <a:t>Подтверждение прихода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5E4A56"/>
                </a:solidFill>
              </a:rPr>
              <a:t>Подтверждение ухода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5E4A56"/>
                </a:solidFill>
              </a:rPr>
              <a:t>Чёрный список</a:t>
            </a:r>
            <a:endParaRPr lang="en-US" sz="14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48872" cy="6400800"/>
          </a:xfrm>
          <a:prstGeom prst="rect">
            <a:avLst/>
          </a:prstGeom>
          <a:solidFill>
            <a:srgbClr val="FFF8FB"/>
          </a:solidFill>
          <a:ln w="12700">
            <a:solidFill>
              <a:srgbClr val="FFF8F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Запросы и механизмы БД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4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Представления, функции и триггеры автоматизируют работу системы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474720" cy="5303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13232" y="1207008"/>
            <a:ext cx="3145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Представление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E4A56"/>
                </a:solidFill>
              </a:rPr>
              <a:t>view_list_requests объединяет заявки, типы, подразделения, сотрудников, статусы и посетителей в одну выборку. Это упрощает интерфейсы и отчёты.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251960" y="1097280"/>
            <a:ext cx="3474720" cy="5303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416552" y="1207008"/>
            <a:ext cx="3145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Функция фильтрации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16002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E4A56"/>
                </a:solidFill>
              </a:rPr>
              <a:t>filtering_requests позволяет отбирать заявки по типу, подразделению и статусу. Логика отбора вынесена на сторону БД.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55280" y="1097280"/>
            <a:ext cx="3657600" cy="5303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8119872" y="1207008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Триггер логина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83880" y="160020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E4A56"/>
                </a:solidFill>
              </a:rPr>
              <a:t>Триггер после регистрации автоматически формирует уникальный login на основе email и идентификатора записи пользователя.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48872" cy="6400800"/>
          </a:xfrm>
          <a:prstGeom prst="rect">
            <a:avLst/>
          </a:prstGeom>
          <a:solidFill>
            <a:srgbClr val="FFF8FB"/>
          </a:solidFill>
          <a:ln w="12700">
            <a:solidFill>
              <a:srgbClr val="FFF8F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Отчёты и аналитика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4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Реализованы ручные и автоматические отчёты для общего отдела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8640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13232" y="1207008"/>
            <a:ext cx="5157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Ручные отчёты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49834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Количество посещений за день / месяц / год с группировкой по подразделениям.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Список лиц, находящихся на территории организации в текущий момент.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Отчёты строятся на основе таблицы visit_logs и фактических времён входа/выхода.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4160520"/>
            <a:ext cx="4800600" cy="1325880"/>
          </a:xfrm>
          <a:prstGeom prst="roundRect">
            <a:avLst>
              <a:gd name="adj" fmla="val 2759"/>
            </a:avLst>
          </a:prstGeom>
          <a:solidFill>
            <a:srgbClr val="FCFCFD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005840" y="46863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481"/>
                </a:solidFill>
              </a:rPr>
              <a:t>Скрин окна отчётов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097280"/>
            <a:ext cx="539496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428232" y="1207008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Автоматический отчёт ТБ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600200"/>
            <a:ext cx="48463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Сервис создает папку «Отчёты ТБ» в документах пользователя.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Каждые 3 часа формируется файл по числу посетителей в подразделениях.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5E4A56"/>
                </a:solidFill>
              </a:rPr>
              <a:t>Отчёт сохраняется автоматически и может использоваться в целях эвакуации и контроля.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629400" y="4160520"/>
            <a:ext cx="4709160" cy="1325880"/>
          </a:xfrm>
          <a:prstGeom prst="roundRect">
            <a:avLst>
              <a:gd name="adj" fmla="val 2759"/>
            </a:avLst>
          </a:prstGeom>
          <a:solidFill>
            <a:srgbClr val="FCFCFD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766560" y="46863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481"/>
                </a:solidFill>
              </a:rPr>
              <a:t>Скрин папки / файла отчёта</a:t>
            </a:r>
            <a:endParaRPr lang="en-US" sz="12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76059A3-B67A-EB2D-20F5-F239F6D38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4031975"/>
            <a:ext cx="4846320" cy="158296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DF7956C-72B2-571D-C2DF-683ECEF70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088" y="3446496"/>
            <a:ext cx="4307503" cy="27539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48872" cy="6400800"/>
          </a:xfrm>
          <a:prstGeom prst="rect">
            <a:avLst/>
          </a:prstGeom>
          <a:solidFill>
            <a:srgbClr val="FFF8FB"/>
          </a:solidFill>
          <a:ln w="12700">
            <a:solidFill>
              <a:srgbClr val="FFF8F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Разработка модулей программы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4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Настольные приложения реализованы по ролям и используют общую БД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743200" cy="5303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13232" y="120700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Клиент посетителя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627632"/>
            <a:ext cx="22402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Регистрация и вход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Индивидуальная и групповая заявки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Просмотр статусов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4526280"/>
            <a:ext cx="2103120" cy="1097280"/>
          </a:xfrm>
          <a:prstGeom prst="roundRect">
            <a:avLst>
              <a:gd name="adj" fmla="val 3333"/>
            </a:avLst>
          </a:prstGeom>
          <a:solidFill>
            <a:srgbClr val="FCFCFD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00584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481"/>
                </a:solidFill>
              </a:rPr>
              <a:t>Скрин клиента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1097280"/>
            <a:ext cx="2743200" cy="5303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685032" y="120700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Общий отдел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21608" y="1627632"/>
            <a:ext cx="22402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Проверка заявок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Статусы и отчёты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E4A56"/>
                </a:solidFill>
              </a:rPr>
              <a:t>Контроль чёрного списка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840480" y="4526280"/>
            <a:ext cx="2103120" cy="1097280"/>
          </a:xfrm>
          <a:prstGeom prst="roundRect">
            <a:avLst>
              <a:gd name="adj" fmla="val 3333"/>
            </a:avLst>
          </a:prstGeom>
          <a:solidFill>
            <a:srgbClr val="FCFCFD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97764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481"/>
                </a:solidFill>
              </a:rPr>
              <a:t>Скрин общего отдела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1097280"/>
            <a:ext cx="2468880" cy="53035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656832" y="1207008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Охрана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93408" y="1627632"/>
            <a:ext cx="19659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430" dirty="0">
                <a:solidFill>
                  <a:srgbClr val="5E4A56"/>
                </a:solidFill>
              </a:rPr>
              <a:t>Одобренные заявки</a:t>
            </a:r>
            <a:endParaRPr lang="en-US" sz="1430" dirty="0"/>
          </a:p>
          <a:p>
            <a:pPr marL="203200" indent="-203200">
              <a:buSzPct val="100000"/>
              <a:buChar char="•"/>
            </a:pPr>
            <a:r>
              <a:rPr lang="en-US" sz="1430" dirty="0">
                <a:solidFill>
                  <a:srgbClr val="5E4A56"/>
                </a:solidFill>
              </a:rPr>
              <a:t>Разрешение доступа</a:t>
            </a:r>
            <a:endParaRPr lang="en-US" sz="1430" dirty="0"/>
          </a:p>
          <a:p>
            <a:pPr marL="203200" indent="-203200">
              <a:buSzPct val="100000"/>
              <a:buChar char="•"/>
            </a:pPr>
            <a:r>
              <a:rPr lang="en-US" sz="1430" dirty="0">
                <a:solidFill>
                  <a:srgbClr val="5E4A56"/>
                </a:solidFill>
              </a:rPr>
              <a:t>Фиксация входа/убытия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6720840" y="4526280"/>
            <a:ext cx="2011680" cy="1097280"/>
          </a:xfrm>
          <a:prstGeom prst="roundRect">
            <a:avLst>
              <a:gd name="adj" fmla="val 3333"/>
            </a:avLst>
          </a:prstGeom>
          <a:solidFill>
            <a:srgbClr val="FCFCFD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858000" y="4937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481"/>
                </a:solidFill>
              </a:rPr>
              <a:t>Скрин охраны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89720" y="1097280"/>
            <a:ext cx="2468880" cy="53035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9354312" y="1207008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Подразделение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45168" y="1627632"/>
            <a:ext cx="20116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430" dirty="0">
                <a:solidFill>
                  <a:srgbClr val="5E4A56"/>
                </a:solidFill>
              </a:rPr>
              <a:t>Подтверждение прихода/ухода</a:t>
            </a:r>
            <a:endParaRPr lang="en-US" sz="1430" dirty="0"/>
          </a:p>
          <a:p>
            <a:pPr marL="203200" indent="-203200">
              <a:buSzPct val="100000"/>
              <a:buChar char="•"/>
            </a:pPr>
            <a:r>
              <a:rPr lang="en-US" sz="1430" dirty="0">
                <a:solidFill>
                  <a:srgbClr val="5E4A56"/>
                </a:solidFill>
              </a:rPr>
              <a:t>Добавление в чёрный список</a:t>
            </a:r>
            <a:endParaRPr lang="en-US" sz="1430" dirty="0"/>
          </a:p>
          <a:p>
            <a:pPr marL="203200" indent="-203200">
              <a:buSzPct val="100000"/>
              <a:buChar char="•"/>
            </a:pPr>
            <a:r>
              <a:rPr lang="en-US" sz="1430" dirty="0">
                <a:solidFill>
                  <a:srgbClr val="5E4A56"/>
                </a:solidFill>
              </a:rPr>
              <a:t>Контроль времени перемещения</a:t>
            </a:r>
            <a:endParaRPr lang="en-US" sz="1430" dirty="0"/>
          </a:p>
        </p:txBody>
      </p:sp>
      <p:sp>
        <p:nvSpPr>
          <p:cNvPr id="23" name="Shape 21"/>
          <p:cNvSpPr/>
          <p:nvPr/>
        </p:nvSpPr>
        <p:spPr>
          <a:xfrm>
            <a:off x="9418320" y="4526280"/>
            <a:ext cx="1920240" cy="1097280"/>
          </a:xfrm>
          <a:prstGeom prst="roundRect">
            <a:avLst>
              <a:gd name="adj" fmla="val 3333"/>
            </a:avLst>
          </a:prstGeom>
          <a:solidFill>
            <a:srgbClr val="FCFCFD"/>
          </a:solidFill>
          <a:ln w="12700">
            <a:solidFill>
              <a:srgbClr val="E7D7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555480" y="4937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481"/>
                </a:solidFill>
              </a:rPr>
              <a:t>Скрин подразделения</a:t>
            </a:r>
            <a:endParaRPr lang="en-US" sz="12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A44DA464-0AFE-93E8-4638-C5AD90431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97" y="3734485"/>
            <a:ext cx="2231285" cy="2373707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39827B15-D6AD-709A-A9B8-CD38DA2A0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811920"/>
            <a:ext cx="2514600" cy="221883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15F1B64-AC8C-85E8-7018-A4E79FB10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676" y="3611499"/>
            <a:ext cx="2320292" cy="24966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F5766E7-E12C-334B-2891-D1C9093460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2496" y="3734485"/>
            <a:ext cx="2139696" cy="24677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48872" cy="6400800"/>
          </a:xfrm>
          <a:prstGeom prst="rect">
            <a:avLst/>
          </a:prstGeom>
          <a:solidFill>
            <a:srgbClr val="FFF8FB"/>
          </a:solidFill>
          <a:ln w="12700">
            <a:solidFill>
              <a:srgbClr val="FFF8F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Итоги и защита результата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4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важно подчеркнуть на защите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34439"/>
            <a:ext cx="10972800" cy="384141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D7E0"/>
            </a:solidFill>
            <a:prstDash val="solid"/>
          </a:ln>
          <a:effectLst>
            <a:outerShdw blurRad="12700" dist="190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96112" y="1344168"/>
            <a:ext cx="10643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A56"/>
                </a:solidFill>
              </a:rPr>
              <a:t>Основные выводы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286465"/>
            <a:ext cx="104241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5E4A56"/>
                </a:solidFill>
              </a:rPr>
              <a:t>Система «ХранительПРО» полностью закрывает цикл работы с заявками: от регистрации посетителя до контроля фактического пребывания на объекте.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5E4A56"/>
                </a:solidFill>
              </a:rPr>
              <a:t>База данных спроектирована в 3НФ: справочники вынесены отдельно, состав заявок и посетители разделены, дублирование сведений исключено.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5E4A56"/>
                </a:solidFill>
              </a:rPr>
              <a:t>Реализованы представления, функции, триггеры и отчёты, что автоматизирует обработку данных и контроль посещений.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5E4A56"/>
                </a:solidFill>
              </a:rPr>
              <a:t>Созданы настольные приложения для всех ключевых ролей пользователей.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1063</Words>
  <Application>Microsoft Office PowerPoint</Application>
  <PresentationFormat>Широкоэкранный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практике</dc:title>
  <dc:subject>Практика: система ХранительПРО</dc:subject>
  <dc:creator>OpenAI</dc:creator>
  <cp:lastModifiedBy>Luv Experience</cp:lastModifiedBy>
  <cp:revision>2</cp:revision>
  <dcterms:created xsi:type="dcterms:W3CDTF">2026-04-20T09:15:44Z</dcterms:created>
  <dcterms:modified xsi:type="dcterms:W3CDTF">2026-04-20T09:38:08Z</dcterms:modified>
</cp:coreProperties>
</file>